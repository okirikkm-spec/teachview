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8" autoAdjust="0"/>
    <p:restoredTop sz="94187" autoAdjust="0"/>
  </p:normalViewPr>
  <p:slideViewPr>
    <p:cSldViewPr snapToGrid="0" snapToObjects="1">
      <p:cViewPr>
        <p:scale>
          <a:sx n="75" d="100"/>
          <a:sy n="75" d="100"/>
        </p:scale>
        <p:origin x="1290" y="7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0" y="-137160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4754880"/>
            <a:ext cx="1463040" cy="1463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0" y="4389120"/>
            <a:ext cx="640080" cy="640080"/>
          </a:xfrm>
          <a:prstGeom prst="ellipse">
            <a:avLst/>
          </a:prstGeom>
          <a:noFill/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0584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b="0" i="0" dirty="0">
                <a:latin typeface="Calibri"/>
              </a:rPr>
              <a:t>Министерство науки и высшего образования Российской Федерации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0584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b="0" i="0" dirty="0">
                <a:latin typeface="Calibri"/>
              </a:rPr>
              <a:t>ФГБОУ ВО «Саратовский государственный технический университет имени Гагарина Ю.А.»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0584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b="0" i="0" dirty="0">
                <a:latin typeface="Calibri"/>
              </a:rPr>
              <a:t>Кафедра «Информационные системы и моделирование» (ИСМ)</a:t>
            </a:r>
            <a:endParaRPr sz="1000" b="0" i="0" dirty="0"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3383280" cy="4114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 dirty="0">
                <a:solidFill>
                  <a:srgbClr val="0D1B3D"/>
                </a:solidFill>
                <a:latin typeface="Calibri"/>
              </a:rPr>
              <a:t>ВЫПУСКНАЯ КВАЛИФИКАЦИОННАЯ РАБОТА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7589520" cy="1697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ru-RU" sz="3400" b="1" i="0" dirty="0">
                <a:latin typeface="Calibri"/>
              </a:rPr>
              <a:t>Разработка веб-платформы для размещения и просмотра обучающего видео контента</a:t>
            </a:r>
            <a:endParaRPr sz="3400" b="1" i="0" dirty="0"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F59E0B"/>
                </a:solidFill>
                <a:latin typeface="Calibri"/>
              </a:rPr>
              <a:t>Платформа  TeachView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34924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3492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dirty="0">
                <a:solidFill>
                  <a:srgbClr val="0EA5E9"/>
                </a:solidFill>
                <a:latin typeface="Calibri"/>
              </a:rPr>
              <a:t>ВЫПОЛНИЛ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dirty="0">
                <a:latin typeface="Calibri"/>
              </a:rPr>
              <a:t xml:space="preserve">Олиференко Кирилл </a:t>
            </a:r>
            <a:r>
              <a:rPr sz="1400" b="1" i="0" dirty="0" err="1">
                <a:latin typeface="Calibri"/>
              </a:rPr>
              <a:t>Вячеславович</a:t>
            </a:r>
            <a:endParaRPr sz="1400" b="1" i="0" dirty="0"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5897880"/>
            <a:ext cx="640080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1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студент группы б1-ПИНФ 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180348"/>
            <a:ext cx="64008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b="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 xml:space="preserve">Научный руководитель: доцент кафедры ИСМ </a:t>
            </a:r>
            <a:r>
              <a:rPr lang="ru-RU" sz="1000" b="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Сластихина</a:t>
            </a:r>
            <a:r>
              <a:rPr lang="ru-RU" sz="1000" b="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 xml:space="preserve"> М.Д.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2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3D"/>
                </a:solidFill>
                <a:latin typeface="Calibri"/>
              </a:rPr>
              <a:t>Актуальность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4748B"/>
                </a:solidFill>
                <a:latin typeface="Calibri"/>
              </a:rPr>
              <a:t>Почему российскому рынку нужна специализированная платформа обучающего видео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3657600" cy="32918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73152" cy="32918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2926080" cy="2894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ru-RU" sz="1800" b="1" i="0" dirty="0">
                <a:solidFill>
                  <a:srgbClr val="0D1B3D"/>
                </a:solidFill>
                <a:latin typeface="Calibri"/>
              </a:rPr>
              <a:t>Цифровизация обучения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Видеоформат — основной способ передачи учебной информации. Растёт спрос на онлайн-курсы и электронные образовательные ресурсы.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194560"/>
            <a:ext cx="3657600" cy="32918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2194560"/>
            <a:ext cx="73152" cy="32918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63440" y="256032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337560"/>
            <a:ext cx="2926080" cy="2894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ru-RU" sz="1800" b="1" i="0" dirty="0">
                <a:solidFill>
                  <a:srgbClr val="0D1B3D"/>
                </a:solidFill>
                <a:latin typeface="Calibri"/>
              </a:rPr>
              <a:t>Цифровой суверенитет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114800"/>
            <a:ext cx="2926080" cy="460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ru-RU" sz="1200" b="0" i="0" dirty="0">
                <a:solidFill>
                  <a:srgbClr val="0F172A"/>
                </a:solidFill>
                <a:latin typeface="Calibri"/>
              </a:rPr>
              <a:t>Импортозамещение программных решений и развитие отечественных IT-продуктов.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194560"/>
            <a:ext cx="3657600" cy="32918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2194560"/>
            <a:ext cx="73152" cy="32918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03920" y="256032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33756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ru-RU" sz="1800" b="1" i="0" dirty="0">
                <a:solidFill>
                  <a:srgbClr val="0D1B3D"/>
                </a:solidFill>
                <a:latin typeface="Calibri"/>
              </a:rPr>
              <a:t>Практико-ориентированное обучение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4046220"/>
            <a:ext cx="2926080" cy="460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ru-RU" sz="1200" b="0" i="0" dirty="0">
                <a:solidFill>
                  <a:srgbClr val="0F172A"/>
                </a:solidFill>
                <a:latin typeface="Calibri"/>
              </a:rPr>
              <a:t>Существующие платформы не сочетают специализацию на обучающем виде</a:t>
            </a:r>
            <a:r>
              <a:rPr lang="ru-RU" sz="1200" dirty="0">
                <a:solidFill>
                  <a:srgbClr val="0F172A"/>
                </a:solidFill>
                <a:latin typeface="Calibri"/>
              </a:rPr>
              <a:t>о</a:t>
            </a:r>
            <a:r>
              <a:rPr lang="ru-RU" sz="1200" b="0" i="0" dirty="0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60720"/>
            <a:ext cx="11247120" cy="548640"/>
          </a:xfrm>
          <a:prstGeom prst="roundRect">
            <a:avLst>
              <a:gd name="adj" fmla="val 30000"/>
            </a:avLst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87959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FFFFFF"/>
                </a:solidFill>
                <a:latin typeface="Calibri"/>
              </a:rPr>
              <a:t>Разработка специализированной обучающей видеоплатформы — актуальная задача для российского рынка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3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0D1B3D"/>
                </a:solidFill>
                <a:latin typeface="Calibri"/>
              </a:rPr>
              <a:t>Цель</a:t>
            </a:r>
            <a:r>
              <a:rPr sz="3000" b="1" i="0" dirty="0">
                <a:solidFill>
                  <a:srgbClr val="0D1B3D"/>
                </a:solidFill>
                <a:latin typeface="Calibri"/>
              </a:rPr>
              <a:t xml:space="preserve"> </a:t>
            </a:r>
            <a:r>
              <a:rPr sz="3000" b="1" i="0" dirty="0" err="1">
                <a:solidFill>
                  <a:srgbClr val="0D1B3D"/>
                </a:solidFill>
                <a:latin typeface="Calibri"/>
              </a:rPr>
              <a:t>выпускной</a:t>
            </a:r>
            <a:r>
              <a:rPr sz="3000" b="1" i="0" dirty="0">
                <a:solidFill>
                  <a:srgbClr val="0D1B3D"/>
                </a:solidFill>
                <a:latin typeface="Calibri"/>
              </a:rPr>
              <a:t xml:space="preserve"> </a:t>
            </a:r>
            <a:r>
              <a:rPr sz="3000" b="1" i="0" dirty="0" err="1">
                <a:solidFill>
                  <a:srgbClr val="0D1B3D"/>
                </a:solidFill>
                <a:latin typeface="Calibri"/>
              </a:rPr>
              <a:t>квалификационной</a:t>
            </a:r>
            <a:r>
              <a:rPr sz="3000" b="1" i="0" dirty="0">
                <a:solidFill>
                  <a:srgbClr val="0D1B3D"/>
                </a:solidFill>
                <a:latin typeface="Calibri"/>
              </a:rPr>
              <a:t xml:space="preserve"> </a:t>
            </a:r>
            <a:r>
              <a:rPr sz="3000" b="1" i="0" dirty="0" err="1">
                <a:solidFill>
                  <a:srgbClr val="0D1B3D"/>
                </a:solidFill>
                <a:latin typeface="Calibri"/>
              </a:rPr>
              <a:t>работы</a:t>
            </a:r>
            <a:endParaRPr sz="30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11247120" cy="32918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37160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0" b="1" i="0">
                <a:solidFill>
                  <a:srgbClr val="F59E0B"/>
                </a:solidFill>
                <a:latin typeface="Calibri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43200"/>
            <a:ext cx="9144000" cy="1724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ru-RU" sz="2200" b="1" i="0" dirty="0">
                <a:solidFill>
                  <a:srgbClr val="0D1B3D"/>
                </a:solidFill>
                <a:latin typeface="Calibri"/>
              </a:rPr>
              <a:t>Разработка веб-платформы для размещения и просмотра обучающего видео контента, адаптированной к российскому рынку, с автоматизированной обработкой видео и формированием тематических тегов.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ОБЪЕКТ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процесс размещения и просмотра обучающего видео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669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ПРЕДМЕТ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594360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методы и средства проектирования веб-платформы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669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РЕЗУЛЬТАТ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594360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законченное программное решение, готовое к применению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4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i="0" dirty="0" err="1">
                <a:solidFill>
                  <a:srgbClr val="FFFFFF"/>
                </a:solidFill>
                <a:latin typeface="Calibri"/>
              </a:rPr>
              <a:t>TeachView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0D1B3D"/>
                </a:solidFill>
                <a:latin typeface="Calibri"/>
              </a:rPr>
              <a:t>Задачи</a:t>
            </a:r>
            <a:r>
              <a:rPr sz="3000" b="1" i="0" dirty="0">
                <a:solidFill>
                  <a:srgbClr val="0D1B3D"/>
                </a:solidFill>
                <a:latin typeface="Calibri"/>
              </a:rPr>
              <a:t xml:space="preserve"> </a:t>
            </a:r>
            <a:r>
              <a:rPr sz="3000" b="1" i="0" dirty="0" err="1">
                <a:solidFill>
                  <a:srgbClr val="0D1B3D"/>
                </a:solidFill>
                <a:latin typeface="Calibri"/>
              </a:rPr>
              <a:t>работы</a:t>
            </a:r>
            <a:endParaRPr sz="30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4748B"/>
                </a:solidFill>
                <a:latin typeface="Calibri"/>
              </a:rPr>
              <a:t>Десять задач, выполнение которых обеспечивает достижение цели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24597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6360" y="2395728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ru-RU" sz="1250" b="0" i="0" dirty="0">
                <a:solidFill>
                  <a:srgbClr val="0F172A"/>
                </a:solidFill>
                <a:latin typeface="Calibri"/>
              </a:rPr>
              <a:t>Анализ предметной области и существующих решений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36392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4360" y="3264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6360" y="3200400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Описание пользовательских сценариев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41064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436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6360" y="4005072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Функциональное моделирование IDEF0, IDEF3, DFD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45736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4360" y="4873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6360" y="4809744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Проектирование архитектуры решения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550408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4360" y="56784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6360" y="5614416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Разработка информационной модели данных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331720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09360" y="24597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1360" y="2395728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Формирование функциональных и нефункциональных требований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136392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09360" y="3264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1360" y="3200400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Реализация клиент-серверной архитектуры и хранилища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941064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30936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1360" y="4005072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Конвейер обработки видео и адаптивного потока HLS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745736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309360" y="4873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71360" y="4809744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Интеграция нейросетей: распознавание речи и генерация тегов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550408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309360" y="5678424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71360" y="5614416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Тестирование, контейнеризация и развёртывание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37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5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i="0" dirty="0" err="1">
                <a:solidFill>
                  <a:srgbClr val="FFFFFF"/>
                </a:solidFill>
                <a:latin typeface="Calibri"/>
              </a:rPr>
              <a:t>TeachView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499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3000" b="1" dirty="0">
                <a:solidFill>
                  <a:srgbClr val="0D1B3D"/>
                </a:solidFill>
                <a:latin typeface="Calibri"/>
              </a:rPr>
              <a:t>А</a:t>
            </a:r>
            <a:r>
              <a:rPr lang="ru-RU" sz="3000" b="1" i="0" dirty="0">
                <a:solidFill>
                  <a:srgbClr val="0D1B3D"/>
                </a:solidFill>
                <a:latin typeface="Calibri"/>
              </a:rPr>
              <a:t>нализ существующих решений</a:t>
            </a:r>
            <a:endParaRPr sz="30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6" name="Oval 5"/>
          <p:cNvSpPr/>
          <p:nvPr/>
        </p:nvSpPr>
        <p:spPr>
          <a:xfrm>
            <a:off x="457200" y="1450999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7473" y="1376266"/>
            <a:ext cx="1124712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400" b="0" i="1" dirty="0">
                <a:solidFill>
                  <a:srgbClr val="64748B"/>
                </a:solidFill>
                <a:latin typeface="Calibri"/>
              </a:rPr>
              <a:t>Рассмотрены четыре платформы разных типов</a:t>
            </a:r>
            <a:endParaRPr sz="1400" b="0" i="1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90146" y="1735791"/>
            <a:ext cx="4391479" cy="172005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0143" y="1852298"/>
            <a:ext cx="4391482" cy="13233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3185" y="1722790"/>
            <a:ext cx="4297696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YouTube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0137" y="4286825"/>
            <a:ext cx="4391478" cy="172005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90137" y="4423836"/>
            <a:ext cx="4391478" cy="12984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3179" y="4280737"/>
            <a:ext cx="3306024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Moodle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04E4ED4-4161-4F55-A351-EDE17F5CD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145" y="1982137"/>
            <a:ext cx="4391480" cy="21693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FDD4E62-343A-415D-ABFB-45B5C2FB1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136" y="4553684"/>
            <a:ext cx="4391478" cy="2184534"/>
          </a:xfrm>
          <a:prstGeom prst="rect">
            <a:avLst/>
          </a:prstGeom>
        </p:spPr>
      </p:pic>
      <p:sp>
        <p:nvSpPr>
          <p:cNvPr id="72" name="Rounded Rectangle 9">
            <a:extLst>
              <a:ext uri="{FF2B5EF4-FFF2-40B4-BE49-F238E27FC236}">
                <a16:creationId xmlns:a16="http://schemas.microsoft.com/office/drawing/2014/main" id="{0CA81AF2-662B-4778-BFC2-593B2CBCF243}"/>
              </a:ext>
            </a:extLst>
          </p:cNvPr>
          <p:cNvSpPr/>
          <p:nvPr/>
        </p:nvSpPr>
        <p:spPr>
          <a:xfrm>
            <a:off x="6855646" y="4297670"/>
            <a:ext cx="4391479" cy="172005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3" name="Rectangle 10">
            <a:extLst>
              <a:ext uri="{FF2B5EF4-FFF2-40B4-BE49-F238E27FC236}">
                <a16:creationId xmlns:a16="http://schemas.microsoft.com/office/drawing/2014/main" id="{06331798-A380-4E2D-A218-470FFC3344B0}"/>
              </a:ext>
            </a:extLst>
          </p:cNvPr>
          <p:cNvSpPr/>
          <p:nvPr/>
        </p:nvSpPr>
        <p:spPr>
          <a:xfrm>
            <a:off x="6855643" y="4414177"/>
            <a:ext cx="4391482" cy="13233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6164176-06BF-4B2E-9C47-CF72B3867807}"/>
              </a:ext>
            </a:extLst>
          </p:cNvPr>
          <p:cNvSpPr txBox="1"/>
          <p:nvPr/>
        </p:nvSpPr>
        <p:spPr>
          <a:xfrm>
            <a:off x="6941956" y="4290594"/>
            <a:ext cx="4218852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Boosty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9" name="Rounded Rectangle 29">
            <a:extLst>
              <a:ext uri="{FF2B5EF4-FFF2-40B4-BE49-F238E27FC236}">
                <a16:creationId xmlns:a16="http://schemas.microsoft.com/office/drawing/2014/main" id="{44D7DCB5-8A7E-4DB0-A07D-682F745F3D91}"/>
              </a:ext>
            </a:extLst>
          </p:cNvPr>
          <p:cNvSpPr/>
          <p:nvPr/>
        </p:nvSpPr>
        <p:spPr>
          <a:xfrm>
            <a:off x="6855638" y="1736461"/>
            <a:ext cx="4391478" cy="172005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3" name="Rectangle 30">
            <a:extLst>
              <a:ext uri="{FF2B5EF4-FFF2-40B4-BE49-F238E27FC236}">
                <a16:creationId xmlns:a16="http://schemas.microsoft.com/office/drawing/2014/main" id="{26836999-1CB8-49C7-B042-806E85334AD4}"/>
              </a:ext>
            </a:extLst>
          </p:cNvPr>
          <p:cNvSpPr/>
          <p:nvPr/>
        </p:nvSpPr>
        <p:spPr>
          <a:xfrm>
            <a:off x="6855633" y="1879289"/>
            <a:ext cx="4391478" cy="12984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F5DE3AC-9B1B-4A72-B4FF-692B347A7001}"/>
              </a:ext>
            </a:extLst>
          </p:cNvPr>
          <p:cNvSpPr txBox="1"/>
          <p:nvPr/>
        </p:nvSpPr>
        <p:spPr>
          <a:xfrm>
            <a:off x="6983001" y="1732086"/>
            <a:ext cx="4218848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Skillbox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C525780F-A362-4589-A563-56F345CDB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633" y="1992550"/>
            <a:ext cx="4391478" cy="2190214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08E12213-A0E5-45EC-BB75-A5169EE82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649" y="4546509"/>
            <a:ext cx="4391477" cy="21871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21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6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3D"/>
                </a:solidFill>
                <a:latin typeface="Calibri"/>
              </a:rPr>
              <a:t>Сравнительный анализ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8109" y="1396696"/>
            <a:ext cx="1124712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400" i="1" dirty="0">
                <a:solidFill>
                  <a:srgbClr val="64748B"/>
                </a:solidFill>
                <a:latin typeface="Calibri"/>
              </a:rPr>
              <a:t>С</a:t>
            </a:r>
            <a:r>
              <a:rPr lang="ru-RU" sz="1400" b="0" i="1" dirty="0">
                <a:solidFill>
                  <a:srgbClr val="64748B"/>
                </a:solidFill>
                <a:latin typeface="Calibri"/>
              </a:rPr>
              <a:t xml:space="preserve">опоставление с </a:t>
            </a:r>
            <a:r>
              <a:rPr lang="en-US" sz="1400" b="0" i="1" dirty="0">
                <a:solidFill>
                  <a:srgbClr val="64748B"/>
                </a:solidFill>
                <a:latin typeface="Calibri"/>
              </a:rPr>
              <a:t>TeachView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3270" y="1877558"/>
            <a:ext cx="7316532" cy="457200"/>
          </a:xfrm>
          <a:prstGeom prst="roundRect">
            <a:avLst>
              <a:gd name="adj" fmla="val 5000"/>
            </a:avLst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77571" y="1989468"/>
            <a:ext cx="2194560" cy="233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400" b="1" i="0" dirty="0">
                <a:solidFill>
                  <a:srgbClr val="FFFFFF"/>
                </a:solidFill>
                <a:latin typeface="Calibri"/>
              </a:rPr>
              <a:t>Критери</a:t>
            </a:r>
            <a:r>
              <a:rPr lang="ru-RU" sz="1400" b="1" dirty="0">
                <a:solidFill>
                  <a:srgbClr val="FFFFFF"/>
                </a:solidFill>
                <a:latin typeface="Calibri"/>
              </a:rPr>
              <a:t>и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53268" y="1989118"/>
            <a:ext cx="777240" cy="233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YouTube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40379" y="1989615"/>
            <a:ext cx="777240" cy="233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Moodle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7490" y="1976161"/>
            <a:ext cx="777240" cy="233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400" b="1" i="0" dirty="0" err="1">
                <a:solidFill>
                  <a:srgbClr val="FFFFFF"/>
                </a:solidFill>
                <a:latin typeface="Calibri"/>
              </a:rPr>
              <a:t>SkillBox</a:t>
            </a:r>
            <a:endParaRPr lang="en-US"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537" y="1988106"/>
            <a:ext cx="548640" cy="233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Boos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ty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74984" y="1989615"/>
            <a:ext cx="858594" cy="233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TeachView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963270" y="2340326"/>
            <a:ext cx="7316531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0431" y="2490206"/>
            <a:ext cx="2148840" cy="166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Calibri"/>
              </a:rPr>
              <a:t>Спец. на обуч. видео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6693" y="2465199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5465" y="2442352"/>
            <a:ext cx="8686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4748B"/>
                </a:solidFill>
                <a:latin typeface="Calibri"/>
              </a:rPr>
              <a:t>+/−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9441" y="2434016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9840" y="2435577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3570" y="2443913"/>
            <a:ext cx="68580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63270" y="2724374"/>
            <a:ext cx="7316531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00431" y="2874254"/>
            <a:ext cx="2148840" cy="166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dirty="0">
                <a:solidFill>
                  <a:srgbClr val="0F172A"/>
                </a:solidFill>
                <a:latin typeface="Calibri"/>
              </a:rPr>
              <a:t>Свободная публикация</a:t>
            </a:r>
            <a:endParaRPr sz="1000" b="0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966693" y="2849247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5465" y="2826400"/>
            <a:ext cx="8686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9441" y="2818064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9840" y="2819625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3570" y="2827961"/>
            <a:ext cx="68580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63270" y="3108422"/>
            <a:ext cx="7316531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00431" y="3258302"/>
            <a:ext cx="2148840" cy="166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Calibri"/>
              </a:rPr>
              <a:t>Каталогизация и поиск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66693" y="3233295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55465" y="3210448"/>
            <a:ext cx="8686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9441" y="3202112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64748B"/>
                </a:solidFill>
                <a:latin typeface="Calibri"/>
              </a:rPr>
              <a:t>+/−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9840" y="3203673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3570" y="3212009"/>
            <a:ext cx="68580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63270" y="3492470"/>
            <a:ext cx="7316531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100431" y="3642350"/>
            <a:ext cx="2148840" cy="166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b="0" i="0" dirty="0">
                <a:solidFill>
                  <a:srgbClr val="0F172A"/>
                </a:solidFill>
                <a:latin typeface="Calibri"/>
              </a:rPr>
              <a:t xml:space="preserve">Адаптивный поток HLS или </a:t>
            </a:r>
            <a:r>
              <a:rPr lang="ru-RU" sz="1000" dirty="0">
                <a:solidFill>
                  <a:srgbClr val="0F172A"/>
                </a:solidFill>
                <a:latin typeface="Calibri"/>
              </a:rPr>
              <a:t>DASH</a:t>
            </a:r>
            <a:endParaRPr lang="ru-RU" sz="1000" b="0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966693" y="3617343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9441" y="3586160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3570" y="3596057"/>
            <a:ext cx="68580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63270" y="3876518"/>
            <a:ext cx="7316531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100431" y="4026398"/>
            <a:ext cx="2148840" cy="166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b="0" i="0" dirty="0">
                <a:solidFill>
                  <a:srgbClr val="0F172A"/>
                </a:solidFill>
                <a:latin typeface="Calibri"/>
              </a:rPr>
              <a:t>Авто-теги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66693" y="4001391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55465" y="3978544"/>
            <a:ext cx="8686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9441" y="3970208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9840" y="3971769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3570" y="3980105"/>
            <a:ext cx="68580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63270" y="4260566"/>
            <a:ext cx="7316531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100431" y="4410446"/>
            <a:ext cx="2148840" cy="166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b="0" i="0" dirty="0">
                <a:solidFill>
                  <a:srgbClr val="0F172A"/>
                </a:solidFill>
                <a:latin typeface="Calibri"/>
              </a:rPr>
              <a:t>Авто-субтитры</a:t>
            </a:r>
            <a:endParaRPr sz="1000" b="0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966693" y="4376296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dirty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55465" y="4362592"/>
            <a:ext cx="8686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9840" y="4355817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13570" y="4364153"/>
            <a:ext cx="68580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63270" y="4644614"/>
            <a:ext cx="7316531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077571" y="4730486"/>
            <a:ext cx="2148840" cy="166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b="0" i="0" dirty="0">
                <a:solidFill>
                  <a:srgbClr val="0F172A"/>
                </a:solidFill>
                <a:latin typeface="Calibri"/>
              </a:rPr>
              <a:t>Ориентация на РФ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77227" y="4723767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78325" y="4710064"/>
            <a:ext cx="8686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64748B"/>
                </a:solidFill>
                <a:latin typeface="Calibri"/>
              </a:rPr>
              <a:t>+/−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9441" y="4692584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29997" y="4695221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3570" y="4684193"/>
            <a:ext cx="68580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963270" y="5106386"/>
            <a:ext cx="7316531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100431" y="5255191"/>
            <a:ext cx="5303520" cy="183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dirty="0" err="1">
                <a:solidFill>
                  <a:srgbClr val="0D1B3D"/>
                </a:solidFill>
                <a:latin typeface="Calibri"/>
              </a:rPr>
              <a:t>TeachView</a:t>
            </a:r>
            <a:r>
              <a:rPr lang="en-US" sz="1100" b="1" i="0" dirty="0">
                <a:solidFill>
                  <a:srgbClr val="0D1B3D"/>
                </a:solidFill>
                <a:latin typeface="Calibri"/>
              </a:rPr>
              <a:t xml:space="preserve"> – </a:t>
            </a:r>
            <a:r>
              <a:rPr lang="ru-RU" sz="1100" b="1" i="0" dirty="0">
                <a:solidFill>
                  <a:srgbClr val="0D1B3D"/>
                </a:solidFill>
                <a:latin typeface="Calibri"/>
              </a:rPr>
              <a:t>решение разработанное в рамках ВКР</a:t>
            </a:r>
            <a:endParaRPr sz="11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BBB8DC2-7D54-4712-92A3-FD229EDCE4A1}"/>
              </a:ext>
            </a:extLst>
          </p:cNvPr>
          <p:cNvSpPr txBox="1"/>
          <p:nvPr/>
        </p:nvSpPr>
        <p:spPr>
          <a:xfrm>
            <a:off x="6249441" y="4340540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BA92F3-6D38-4CA0-A8E0-66B182AEAD5B}"/>
              </a:ext>
            </a:extLst>
          </p:cNvPr>
          <p:cNvSpPr txBox="1"/>
          <p:nvPr/>
        </p:nvSpPr>
        <p:spPr>
          <a:xfrm>
            <a:off x="5091102" y="3581340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64748B"/>
                </a:solidFill>
                <a:latin typeface="Calibri"/>
              </a:rPr>
              <a:t>+/−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E0F7B1-A72C-4688-A3AC-744BF94755FB}"/>
              </a:ext>
            </a:extLst>
          </p:cNvPr>
          <p:cNvSpPr txBox="1"/>
          <p:nvPr/>
        </p:nvSpPr>
        <p:spPr>
          <a:xfrm>
            <a:off x="7350443" y="3586936"/>
            <a:ext cx="68580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7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3D"/>
                </a:solidFill>
                <a:latin typeface="Calibri"/>
              </a:rPr>
              <a:t>Функциональные возможности TeachView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4748B"/>
                </a:solidFill>
                <a:latin typeface="Calibri"/>
              </a:rPr>
              <a:t>Шесть ключевых направлений функциональности платформы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3694176" cy="187451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87168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D1B3D"/>
                </a:solidFill>
                <a:latin typeface="Calibri"/>
              </a:rPr>
              <a:t>Учётные записи и роли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31455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Регистрация, JWT-аутентификация, ролевая модель USER / BANNED / ADMIN.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2194560"/>
            <a:ext cx="3694176" cy="187451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62856" y="2468880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2487168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D1B3D"/>
                </a:solidFill>
                <a:latin typeface="Calibri"/>
              </a:rPr>
              <a:t>Загрузка и публикация видео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3200400"/>
            <a:ext cx="31455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Валидация, метаданные, обложки, теги, управление доступом и подписками.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2194560"/>
            <a:ext cx="3694176" cy="187451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94192" y="2468880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2487168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D1B3D"/>
                </a:solidFill>
                <a:latin typeface="Calibri"/>
              </a:rPr>
              <a:t>Адаптивный поток HLS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3200400"/>
            <a:ext cx="31455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Транскодирование FFmpeg в профили 480p / 720p / 1080p / 1440p.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33671"/>
            <a:ext cx="3694176" cy="187451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" y="4507991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526279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D1B3D"/>
                </a:solidFill>
                <a:latin typeface="Calibri"/>
              </a:rPr>
              <a:t>Авто-субтитры (Whisper)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39511"/>
            <a:ext cx="31455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Распознавание речи и генерация транскрипций для субтитров и поиска.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8536" y="4233671"/>
            <a:ext cx="3694176" cy="187451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62856" y="4507991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0096" y="4526279"/>
            <a:ext cx="2414016" cy="225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 dirty="0" err="1">
                <a:solidFill>
                  <a:srgbClr val="0D1B3D"/>
                </a:solidFill>
                <a:latin typeface="Calibri"/>
              </a:rPr>
              <a:t>Авто-теги</a:t>
            </a:r>
            <a:r>
              <a:rPr sz="1400" b="1" i="0" dirty="0">
                <a:solidFill>
                  <a:srgbClr val="0D1B3D"/>
                </a:solidFill>
                <a:latin typeface="Calibri"/>
              </a:rPr>
              <a:t xml:space="preserve"> (Qwen 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5239511"/>
            <a:ext cx="31455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Большая языковая модель формирует тематические теги по транскрипции.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9872" y="4233671"/>
            <a:ext cx="3694176" cy="187451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394192" y="4507991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1432" y="4526279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D1B3D"/>
                </a:solidFill>
                <a:latin typeface="Calibri"/>
              </a:rPr>
              <a:t>Каталог, поиск и подписки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5239511"/>
            <a:ext cx="31455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Поиск, фильтрация по тегам, плейлисты, лайки, комментарии и подписки.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8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3D"/>
                </a:solidFill>
                <a:latin typeface="Calibri"/>
              </a:rPr>
              <a:t>Технологии реализации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4748B"/>
                </a:solidFill>
                <a:latin typeface="Calibri"/>
              </a:rPr>
              <a:t>Стек на открытых лицензиях с автономным развёртыванием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27889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2788920" cy="187451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0779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D1B3D"/>
                </a:solidFill>
                <a:latin typeface="Calibri"/>
              </a:rPr>
              <a:t>Spring Boot 4.0.2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Java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2194560"/>
            <a:ext cx="27889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64992" y="2194560"/>
            <a:ext cx="2788920" cy="187451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93592" y="24231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90779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D1B3D"/>
                </a:solidFill>
                <a:latin typeface="Calibri"/>
              </a:rPr>
              <a:t>React 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3474720"/>
            <a:ext cx="2331720" cy="195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dirty="0">
                <a:solidFill>
                  <a:srgbClr val="64748B"/>
                </a:solidFill>
                <a:latin typeface="Calibri"/>
              </a:rPr>
              <a:t>Video.js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2194560"/>
            <a:ext cx="27889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72784" y="2194560"/>
            <a:ext cx="2788920" cy="187451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01384" y="24231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СУБД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90779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D1B3D"/>
                </a:solidFill>
                <a:latin typeface="Calibri"/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34747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JPA · Hibernate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0576" y="2194560"/>
            <a:ext cx="27889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80576" y="2194560"/>
            <a:ext cx="2788920" cy="187451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409176" y="24231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ХРАНИЛИЩЕ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290779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D1B3D"/>
                </a:solidFill>
                <a:latin typeface="Calibri"/>
              </a:rPr>
              <a:t>MinIO (S3)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9176" y="34747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видео, постеры, субтитры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87951"/>
            <a:ext cx="27889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7200" y="4187951"/>
            <a:ext cx="2788920" cy="187451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85800" y="4416551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МЕДИА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901183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D1B3D"/>
                </a:solidFill>
                <a:latin typeface="Calibri"/>
              </a:rPr>
              <a:t>FFmpeg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68111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адаптивный поток HLS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64992" y="4187951"/>
            <a:ext cx="27889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364992" y="4187951"/>
            <a:ext cx="2788920" cy="187451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593592" y="4416551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ASR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93592" y="4901183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D1B3D"/>
                </a:solidFill>
                <a:latin typeface="Calibri"/>
              </a:rPr>
              <a:t>Whisper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5468111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распознавание речи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72784" y="4187951"/>
            <a:ext cx="27889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272784" y="4187951"/>
            <a:ext cx="2788920" cy="187451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501384" y="4416551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1384" y="4901183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D1B3D"/>
                </a:solidFill>
                <a:latin typeface="Calibri"/>
              </a:rPr>
              <a:t>Qwen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1384" y="5468111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тематические теги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80576" y="4187951"/>
            <a:ext cx="27889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180576" y="4187951"/>
            <a:ext cx="2788920" cy="187451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409176" y="4416551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DEVOPS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09176" y="4901183"/>
            <a:ext cx="2331720" cy="2894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 dirty="0">
                <a:solidFill>
                  <a:srgbClr val="0D1B3D"/>
                </a:solidFill>
                <a:latin typeface="Calibri"/>
              </a:rPr>
              <a:t>Docker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9176" y="5468111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dirty="0">
                <a:solidFill>
                  <a:srgbClr val="64748B"/>
                </a:solidFill>
                <a:latin typeface="Calibri"/>
              </a:rPr>
              <a:t xml:space="preserve">Maven ·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npm</a:t>
            </a:r>
            <a:endParaRPr sz="11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457200" y="6355080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6481307"/>
            <a:ext cx="10607040" cy="183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dirty="0" err="1">
                <a:solidFill>
                  <a:srgbClr val="FFFFFF"/>
                </a:solidFill>
                <a:latin typeface="Calibri"/>
              </a:rPr>
              <a:t>Все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 xml:space="preserve"> 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компоненты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 xml:space="preserve"> — 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открытые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 xml:space="preserve"> 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лицензии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9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3EDD9B2-9C92-48DA-8FE6-7E71AADB8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27381"/>
            <a:ext cx="11704320" cy="5725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22960"/>
            <a:ext cx="11247120" cy="499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3000" b="1" i="0" dirty="0">
                <a:solidFill>
                  <a:srgbClr val="0D1B3D"/>
                </a:solidFill>
                <a:latin typeface="Calibri"/>
              </a:rPr>
              <a:t>Диаграмма использования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017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10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499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3000" b="1" i="0" dirty="0">
                <a:solidFill>
                  <a:srgbClr val="0D1B3D"/>
                </a:solidFill>
                <a:latin typeface="Calibri"/>
              </a:rPr>
              <a:t>Нейросетевые компоненты системы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455306" y="1849955"/>
            <a:ext cx="3694176" cy="459943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472184" y="1849955"/>
            <a:ext cx="3694176" cy="548640"/>
          </a:xfrm>
          <a:prstGeom prst="roundRect">
            <a:avLst>
              <a:gd name="adj" fmla="val 7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472184" y="2169995"/>
            <a:ext cx="3694176" cy="228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05356" y="1980984"/>
            <a:ext cx="3236976" cy="233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400" b="1" i="0" dirty="0">
                <a:solidFill>
                  <a:schemeClr val="bg1"/>
                </a:solidFill>
                <a:latin typeface="Calibri"/>
              </a:rPr>
              <a:t>Whisper</a:t>
            </a:r>
            <a:endParaRPr sz="1400" b="1" i="0" dirty="0">
              <a:solidFill>
                <a:schemeClr val="bg1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lang="ru-RU" sz="1000" b="0" i="0" dirty="0">
                <a:solidFill>
                  <a:srgbClr val="BFDBFE"/>
                </a:solidFill>
                <a:latin typeface="Calibri"/>
              </a:rPr>
              <a:t>OpenAI · Автоматическое распознавание речи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00784" y="3724988"/>
            <a:ext cx="3236976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700784" y="3724988"/>
            <a:ext cx="3236976" cy="64008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89545" y="3838369"/>
            <a:ext cx="3110900" cy="4122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200" b="1" u="none" strike="noStrike" dirty="0" err="1">
                <a:effectLst/>
                <a:latin typeface="Google Sans"/>
              </a:rPr>
              <a:t>Мультиязычность</a:t>
            </a:r>
            <a:r>
              <a:rPr lang="ru-RU" sz="1200" dirty="0"/>
              <a:t>: Распознает речь на 99 языках мира, включая русский.</a:t>
            </a:r>
            <a:endParaRPr sz="12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700784" y="4502228"/>
            <a:ext cx="3236976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700784" y="4502228"/>
            <a:ext cx="3236976" cy="64008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83664" y="4557092"/>
            <a:ext cx="2871216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 sz="12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89545" y="4509939"/>
            <a:ext cx="3110900" cy="624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200" b="1" u="none" strike="noStrike" dirty="0">
                <a:effectLst/>
                <a:latin typeface="Google Sans"/>
              </a:rPr>
              <a:t>Временные метки</a:t>
            </a:r>
            <a:r>
              <a:rPr lang="ru-RU" sz="1200" dirty="0"/>
              <a:t>: Выдает текст с точной разбивкой по времени для создания субтитров.</a:t>
            </a:r>
            <a:endParaRPr sz="1200" b="0" i="1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700784" y="5279468"/>
            <a:ext cx="3236976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700784" y="5279468"/>
            <a:ext cx="3236976" cy="64008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89545" y="5285996"/>
            <a:ext cx="3110900" cy="624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200" b="1" u="none" strike="noStrike" dirty="0">
                <a:effectLst/>
                <a:latin typeface="Google Sans"/>
              </a:rPr>
              <a:t>Перевод</a:t>
            </a:r>
            <a:r>
              <a:rPr lang="ru-RU" sz="1200" dirty="0"/>
              <a:t>: Автоматически переводит аудио с любого поддерживаемого языка сразу в английский текст.</a:t>
            </a:r>
            <a:endParaRPr sz="12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3794" y="1888487"/>
            <a:ext cx="3694176" cy="459943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614160" y="1849955"/>
            <a:ext cx="3694176" cy="548640"/>
          </a:xfrm>
          <a:prstGeom prst="roundRect">
            <a:avLst>
              <a:gd name="adj" fmla="val 7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14160" y="2169995"/>
            <a:ext cx="3694176" cy="228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42760" y="1980984"/>
            <a:ext cx="3236976" cy="233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400" b="1" i="0" dirty="0">
                <a:solidFill>
                  <a:schemeClr val="bg1"/>
                </a:solidFill>
                <a:latin typeface="Calibri"/>
              </a:rPr>
              <a:t>Qwen 3</a:t>
            </a:r>
          </a:p>
          <a:p>
            <a:pPr algn="l">
              <a:lnSpc>
                <a:spcPct val="115000"/>
              </a:lnSpc>
            </a:pPr>
            <a:r>
              <a:rPr lang="ru-RU" sz="1000" b="0" i="0" dirty="0">
                <a:solidFill>
                  <a:srgbClr val="FECACA"/>
                </a:solidFill>
                <a:latin typeface="Calibri"/>
              </a:rPr>
              <a:t>Alibaba Cloud · Генерация тегов и NLP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6590" y="3705130"/>
            <a:ext cx="3236976" cy="96614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856590" y="3705131"/>
            <a:ext cx="3236976" cy="968368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78396" y="3800174"/>
            <a:ext cx="2871216" cy="837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200" b="1" u="none" strike="noStrike" dirty="0">
                <a:effectLst/>
                <a:latin typeface="Google Sans"/>
              </a:rPr>
              <a:t>Высокая скорость</a:t>
            </a:r>
            <a:r>
              <a:rPr lang="ru-RU" sz="1200" dirty="0"/>
              <a:t xml:space="preserve">: Архитектура </a:t>
            </a:r>
            <a:r>
              <a:rPr lang="ru-RU" sz="1200" dirty="0" err="1"/>
              <a:t>Mixture-of-Experts</a:t>
            </a:r>
            <a:r>
              <a:rPr lang="ru-RU" sz="1200" dirty="0"/>
              <a:t xml:space="preserve"> позволяет задействовать только малую часть параметров для каждого токена. </a:t>
            </a:r>
            <a:endParaRPr sz="12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95516" y="4938387"/>
            <a:ext cx="3236976" cy="9667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812394" y="4938943"/>
            <a:ext cx="3236976" cy="966146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39470" y="5109408"/>
            <a:ext cx="2871216" cy="624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200" b="1" u="none" strike="noStrike" dirty="0" err="1">
                <a:effectLst/>
                <a:latin typeface="Google Sans"/>
              </a:rPr>
              <a:t>Мультиязычность</a:t>
            </a:r>
            <a:r>
              <a:rPr lang="ru-RU" sz="1200" dirty="0"/>
              <a:t>: Модели обучены на колоссальном объеме данных и поддерживают более 110 языков.</a:t>
            </a:r>
            <a:endParaRPr sz="12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60" name="Rounded Rectangle 60"/>
          <p:cNvSpPr/>
          <p:nvPr/>
        </p:nvSpPr>
        <p:spPr>
          <a:xfrm>
            <a:off x="6795516" y="6020000"/>
            <a:ext cx="3236976" cy="457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1" name="Rounded Rectangle 61"/>
          <p:cNvSpPr/>
          <p:nvPr/>
        </p:nvSpPr>
        <p:spPr>
          <a:xfrm>
            <a:off x="6795516" y="6020000"/>
            <a:ext cx="3236976" cy="45792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2"/>
          <p:cNvSpPr txBox="1"/>
          <p:nvPr/>
        </p:nvSpPr>
        <p:spPr>
          <a:xfrm>
            <a:off x="6978396" y="6028000"/>
            <a:ext cx="2871216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200" b="1" u="none" strike="noStrike" dirty="0">
                <a:effectLst/>
                <a:latin typeface="Calibri"/>
              </a:rPr>
              <a:t>Генерация тегов</a:t>
            </a:r>
            <a:r>
              <a:rPr lang="ru-RU" sz="1200" dirty="0"/>
              <a:t>: Формирует тематические теги для видео на основе текста транскрипции.</a:t>
            </a:r>
            <a:endParaRPr sz="1200" b="1" i="0" dirty="0">
              <a:solidFill>
                <a:srgbClr val="0D1B3D"/>
              </a:solidFill>
              <a:latin typeface="Calibri"/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D884AE1-F118-410F-BEBC-62D8F77ED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772" y="2418833"/>
            <a:ext cx="1252220" cy="125222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9CE6D30A-0712-4DE6-9F4B-EA34E1819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718" y="2427845"/>
            <a:ext cx="1635707" cy="12267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 dirty="0">
                <a:solidFill>
                  <a:srgbClr val="64748B"/>
                </a:solidFill>
                <a:latin typeface="Calibri"/>
              </a:rP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3185"/>
            <a:ext cx="11247120" cy="499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3000" b="1" i="0" dirty="0">
                <a:solidFill>
                  <a:srgbClr val="0D1B3D"/>
                </a:solidFill>
                <a:latin typeface="Calibri"/>
              </a:rPr>
              <a:t>Информационная модель данных</a:t>
            </a:r>
            <a:endParaRPr sz="30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6" name="Oval 5"/>
          <p:cNvSpPr/>
          <p:nvPr/>
        </p:nvSpPr>
        <p:spPr>
          <a:xfrm>
            <a:off x="475092" y="724281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458200" y="5038344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Ограничения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58200" y="56052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Индексы поиска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6DBC53-6404-4F6E-AC32-FA8BF0848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382" y="783900"/>
            <a:ext cx="8998422" cy="6077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196" y="660689"/>
            <a:ext cx="1124712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 dirty="0">
                <a:solidFill>
                  <a:srgbClr val="64748B"/>
                </a:solidFill>
                <a:latin typeface="Calibri"/>
              </a:rPr>
              <a:t xml:space="preserve">11 </a:t>
            </a:r>
            <a:r>
              <a:rPr lang="ru-RU" sz="1400" b="0" i="1" dirty="0">
                <a:solidFill>
                  <a:srgbClr val="64748B"/>
                </a:solidFill>
                <a:latin typeface="Calibri"/>
              </a:rPr>
              <a:t>сущностей</a:t>
            </a:r>
            <a:r>
              <a:rPr sz="1400" b="0" i="1" dirty="0">
                <a:solidFill>
                  <a:srgbClr val="64748B"/>
                </a:solidFill>
                <a:latin typeface="Calibri"/>
              </a:rPr>
              <a:t xml:space="preserve"> PostgreSQL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12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3D"/>
                </a:solidFill>
                <a:latin typeface="Calibri"/>
              </a:rPr>
              <a:t>Демонстрация платформы TeachView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646582FD-CE6B-43A8-B184-5353A9F8E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" y="1420450"/>
            <a:ext cx="9369895" cy="51594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13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3D"/>
                </a:solidFill>
                <a:latin typeface="Calibri"/>
              </a:rPr>
              <a:t>Заключение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4748B"/>
                </a:solidFill>
                <a:latin typeface="Calibri"/>
              </a:rPr>
              <a:t>Цель достигнута, все поставленные задачи выполнены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19+19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функциональных и нефункциональных требований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219456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22860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83464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сущностей данных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219456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2860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83464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профиля качества HLS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0576" y="219456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63456" y="22860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80—150 мс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283464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среднее время отклика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20440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520440"/>
            <a:ext cx="91440" cy="5669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5661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8A"/>
                </a:solidFill>
                <a:latin typeface="Calibri"/>
              </a:rPr>
              <a:t>Анализ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5661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YouTube · Moodle · Skillbox · Boosty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60520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160520"/>
            <a:ext cx="91440" cy="5669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8A"/>
                </a:solidFill>
                <a:latin typeface="Calibri"/>
              </a:rPr>
              <a:t>Моделирование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2062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Use Case · IDEF0/3 · DFD · Sequence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0600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4800600"/>
            <a:ext cx="91440" cy="5669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84632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8A"/>
                </a:solidFill>
                <a:latin typeface="Calibri"/>
              </a:rPr>
              <a:t>Требования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84632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ФТ-1—ФТ-19 и НФТ-1—НФТ-19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440680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91440" cy="5669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8A"/>
                </a:solidFill>
                <a:latin typeface="Calibri"/>
              </a:rPr>
              <a:t>Архитектура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548640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трёхзвенная клиент-серверная схема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520440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72200" y="3520440"/>
            <a:ext cx="91440" cy="5669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35661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Серверная часть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5661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Spring Boot 4.0.2 · Java 21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4160520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72200" y="4160520"/>
            <a:ext cx="91440" cy="5669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55080" y="420624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Клиент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2062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React 19 + Video.js (HLS)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4800600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72200" y="4800600"/>
            <a:ext cx="91440" cy="5669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55080" y="484632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Нейросети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84632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Whisper (ASR) · Qwen 3 (теги)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5440680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172200" y="5440680"/>
            <a:ext cx="91440" cy="5669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55080" y="54864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Развёртывание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548640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Docker Compose · автономно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6309360"/>
            <a:ext cx="11247120" cy="50292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FFFFFF"/>
                </a:solidFill>
                <a:latin typeface="Calibri"/>
              </a:rPr>
              <a:t>Платформа TeachView — законченное программное решение, готовое к практическому применению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457200"/>
            <a:ext cx="1097280" cy="1097280"/>
          </a:xfrm>
          <a:prstGeom prst="ellipse">
            <a:avLst/>
          </a:prstGeom>
          <a:noFill/>
          <a:ln w="317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Спасибо</a:t>
            </a:r>
            <a:r>
              <a:rPr sz="7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 xml:space="preserve"> </a:t>
            </a:r>
            <a:r>
              <a:rPr sz="72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за</a:t>
            </a:r>
            <a:r>
              <a:rPr sz="7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 xml:space="preserve"> </a:t>
            </a:r>
            <a:r>
              <a:rPr sz="72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внимание</a:t>
            </a:r>
            <a:r>
              <a:rPr sz="7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!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846320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8463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A5E9"/>
                </a:solidFill>
                <a:latin typeface="Calibri"/>
              </a:rPr>
              <a:t>АВТОР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120640"/>
            <a:ext cx="7315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 xml:space="preserve">Олиференко Кирилл </a:t>
            </a:r>
            <a:r>
              <a:rPr sz="18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Вячеславович</a:t>
            </a:r>
            <a:endParaRPr sz="1800" b="1" i="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5440680"/>
            <a:ext cx="731520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студент</a:t>
            </a:r>
            <a:r>
              <a:rPr sz="11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 xml:space="preserve"> </a:t>
            </a:r>
            <a:r>
              <a:rPr sz="11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группы</a:t>
            </a:r>
            <a:r>
              <a:rPr sz="11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 xml:space="preserve"> б1-ПИНФ 42  СГТУ </a:t>
            </a:r>
            <a:r>
              <a:rPr sz="11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имени</a:t>
            </a:r>
            <a:r>
              <a:rPr sz="11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 xml:space="preserve"> </a:t>
            </a:r>
            <a:r>
              <a:rPr sz="11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Гагарина</a:t>
            </a:r>
            <a:r>
              <a:rPr sz="11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 xml:space="preserve"> Ю.А.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760720"/>
            <a:ext cx="731520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Научный</a:t>
            </a:r>
            <a:r>
              <a:rPr sz="11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 xml:space="preserve"> </a:t>
            </a:r>
            <a:r>
              <a:rPr sz="1100" b="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руководитель</a:t>
            </a:r>
            <a:r>
              <a:rPr sz="11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 xml:space="preserve">: </a:t>
            </a:r>
            <a:r>
              <a:rPr lang="ru-RU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 xml:space="preserve">доцент кафедры ИСМ </a:t>
            </a:r>
            <a:r>
              <a:rPr lang="ru-RU" sz="11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Сластихина</a:t>
            </a:r>
            <a:r>
              <a:rPr lang="ru-RU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 xml:space="preserve"> М.Д.</a:t>
            </a:r>
            <a:endParaRPr sz="1100" b="0" i="1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775</Words>
  <Application>Microsoft Office PowerPoint</Application>
  <PresentationFormat>Широкоэкранный</PresentationFormat>
  <Paragraphs>226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Google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кирилл олиференко</cp:lastModifiedBy>
  <cp:revision>57</cp:revision>
  <dcterms:created xsi:type="dcterms:W3CDTF">2013-01-27T09:14:16Z</dcterms:created>
  <dcterms:modified xsi:type="dcterms:W3CDTF">2026-05-17T20:11:31Z</dcterms:modified>
  <cp:category/>
</cp:coreProperties>
</file>